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sldIdLst>
    <p:sldId id="6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the presentation’s main title</a:t>
            </a:r>
            <a:endParaRPr lang="en-US" noProof="0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Subtitle and date (move higher if title is only one line)</a:t>
            </a:r>
            <a:endParaRPr lang="en-US" noProof="0" dirty="0"/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/>
              <a:t>www.pwc.com</a:t>
            </a:r>
            <a:endParaRPr lang="en-US" noProof="0" dirty="0"/>
          </a:p>
        </p:txBody>
      </p:sp>
      <p:grpSp>
        <p:nvGrpSpPr>
          <p:cNvPr id="16" name="Group 32"/>
          <p:cNvGrpSpPr/>
          <p:nvPr userDrawn="1"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80627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1752600"/>
            <a:ext cx="107696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59967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1752602"/>
            <a:ext cx="52832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197602" y="1752600"/>
            <a:ext cx="5283199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B1160F7-D618-434A-AEF6-C29042891F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90921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1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711200" y="1752602"/>
            <a:ext cx="34544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4368802" y="1752602"/>
            <a:ext cx="3454399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8026400" y="1752602"/>
            <a:ext cx="34544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C5AFDA1F-DD51-4EFE-82E3-ADECE3B67D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00818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3352800"/>
            <a:ext cx="5283200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197600" y="3352800"/>
            <a:ext cx="5283201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10769600" cy="14478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285FB44-7DB7-468B-A1F6-D1C45A6227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56644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8026400" y="1752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8026400" y="4038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7112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FF8B0739-D5E0-41FA-9DC3-6167BCCB8A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7403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1752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4038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368800" y="1752600"/>
            <a:ext cx="7112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BCAD08D-9461-4943-96CC-E3DE2401C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58831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8800" y="685800"/>
            <a:ext cx="71120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368800" y="1752600"/>
            <a:ext cx="71120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3454400" cy="2130552"/>
          </a:xfrm>
        </p:spPr>
        <p:txBody>
          <a:bodyPr/>
          <a:lstStyle>
            <a:lvl1pPr>
              <a:defRPr sz="24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7747002" y="-2971800"/>
            <a:ext cx="152399" cy="73152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E1BD137B-7AB1-4DB4-B979-E9A99517219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47159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F2BE1174-C6C5-41EB-A42D-6E503FF210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25425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67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3AF9BE63-B233-41AE-974A-C4C63BAB70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926633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1752600"/>
            <a:ext cx="10769600" cy="4419600"/>
          </a:xfrm>
        </p:spPr>
        <p:txBody>
          <a:bodyPr/>
          <a:lstStyle>
            <a:lvl1pPr>
              <a:defRPr sz="32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2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2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2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2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200">
                <a:solidFill>
                  <a:schemeClr val="tx2"/>
                </a:solidFill>
              </a:defRPr>
            </a:lvl8pPr>
            <a:lvl9pPr>
              <a:defRPr sz="32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7CB4C2DB-012D-4E88-9D35-DB9D4A962A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85917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752600"/>
            <a:ext cx="10769600" cy="4419600"/>
          </a:xfr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</a:defRPr>
            </a:lvl1pPr>
            <a:lvl2pPr marL="444500" indent="-263525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714375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984250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341438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7B1A4CDE-B1F6-4F0C-9689-DF21C580757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19270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2"/>
            <a:ext cx="10769600" cy="10667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2"/>
            <a:ext cx="10769600" cy="13715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5ADF867C-8A3D-4269-A64E-587C2D9BD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346475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0"/>
            <a:ext cx="107696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0"/>
            <a:ext cx="10769600" cy="13716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33B94BF7-777A-4208-91B1-B19D018916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396359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0"/>
            <a:ext cx="107696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711202" y="2819400"/>
            <a:ext cx="5283199" cy="3352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1"/>
            <a:ext cx="10769600" cy="7620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October 2012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PT. Pelindo II - Presentation for Establishment of Shared Service Organization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7A3FB370-EF69-456B-805E-2A251D50CB1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000" b="0" i="0" u="none" baseline="0" dirty="0">
                <a:effectLst/>
                <a:latin typeface="Arial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929249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6820410" y="-3874008"/>
            <a:ext cx="152399" cy="9119616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the presentation’s main title</a:t>
            </a:r>
            <a:endParaRPr lang="en-US" noProof="0" dirty="0"/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Subtitle and date (move higher if title is only one line)</a:t>
            </a:r>
            <a:endParaRPr lang="en-US" noProof="0" dirty="0"/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/>
              <a:t>www.pwc.com</a:t>
            </a:r>
          </a:p>
        </p:txBody>
      </p:sp>
      <p:grpSp>
        <p:nvGrpSpPr>
          <p:cNvPr id="102" name="Group 101"/>
          <p:cNvGrpSpPr>
            <a:grpSpLocks noChangeAspect="1"/>
          </p:cNvGrpSpPr>
          <p:nvPr userDrawn="1"/>
        </p:nvGrpSpPr>
        <p:grpSpPr>
          <a:xfrm>
            <a:off x="1291457" y="5768682"/>
            <a:ext cx="1643044" cy="935789"/>
            <a:chOff x="518032" y="-1032869"/>
            <a:chExt cx="6161413" cy="4678943"/>
          </a:xfrm>
        </p:grpSpPr>
        <p:grpSp>
          <p:nvGrpSpPr>
            <p:cNvPr id="103" name="Group 73"/>
            <p:cNvGrpSpPr>
              <a:grpSpLocks noChangeAspect="1"/>
            </p:cNvGrpSpPr>
            <p:nvPr/>
          </p:nvGrpSpPr>
          <p:grpSpPr>
            <a:xfrm>
              <a:off x="4438637" y="-1032863"/>
              <a:ext cx="2240792" cy="2011550"/>
              <a:chOff x="1905000" y="5715000"/>
              <a:chExt cx="445770" cy="381000"/>
            </a:xfrm>
          </p:grpSpPr>
          <p:sp>
            <p:nvSpPr>
              <p:cNvPr id="107" name="Rectangle 25"/>
              <p:cNvSpPr>
                <a:spLocks noChangeArrowheads="1"/>
              </p:cNvSpPr>
              <p:nvPr userDrawn="1"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08" name="Rectangle 26"/>
              <p:cNvSpPr>
                <a:spLocks noChangeArrowheads="1"/>
              </p:cNvSpPr>
              <p:nvPr userDrawn="1"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09" name="Rectangle 27"/>
              <p:cNvSpPr>
                <a:spLocks noChangeArrowheads="1"/>
              </p:cNvSpPr>
              <p:nvPr userDrawn="1"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0" name="Rectangle 28"/>
              <p:cNvSpPr>
                <a:spLocks noChangeArrowheads="1"/>
              </p:cNvSpPr>
              <p:nvPr userDrawn="1"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1" name="Rectangle 29"/>
              <p:cNvSpPr>
                <a:spLocks noChangeArrowheads="1"/>
              </p:cNvSpPr>
              <p:nvPr userDrawn="1"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2" name="Rectangle 30"/>
              <p:cNvSpPr>
                <a:spLocks noChangeArrowheads="1"/>
              </p:cNvSpPr>
              <p:nvPr userDrawn="1"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3" name="Rectangle 31"/>
              <p:cNvSpPr>
                <a:spLocks noChangeArrowheads="1"/>
              </p:cNvSpPr>
              <p:nvPr userDrawn="1"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4" name="Rectangle 32"/>
              <p:cNvSpPr>
                <a:spLocks noChangeArrowheads="1"/>
              </p:cNvSpPr>
              <p:nvPr userDrawn="1"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5" name="Freeform 33"/>
              <p:cNvSpPr>
                <a:spLocks/>
              </p:cNvSpPr>
              <p:nvPr userDrawn="1"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6" name="Rectangle 34"/>
              <p:cNvSpPr>
                <a:spLocks noChangeArrowheads="1"/>
              </p:cNvSpPr>
              <p:nvPr userDrawn="1"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7" name="Rectangle 35"/>
              <p:cNvSpPr>
                <a:spLocks noChangeArrowheads="1"/>
              </p:cNvSpPr>
              <p:nvPr userDrawn="1"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8" name="Rectangle 36"/>
              <p:cNvSpPr>
                <a:spLocks noChangeArrowheads="1"/>
              </p:cNvSpPr>
              <p:nvPr userDrawn="1"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19" name="Rectangle 25"/>
              <p:cNvSpPr>
                <a:spLocks noChangeArrowheads="1"/>
              </p:cNvSpPr>
              <p:nvPr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0" name="Rectangle 26"/>
              <p:cNvSpPr>
                <a:spLocks noChangeArrowheads="1"/>
              </p:cNvSpPr>
              <p:nvPr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1" name="Rectangle 27"/>
              <p:cNvSpPr>
                <a:spLocks noChangeArrowheads="1"/>
              </p:cNvSpPr>
              <p:nvPr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2" name="Rectangle 28"/>
              <p:cNvSpPr>
                <a:spLocks noChangeArrowheads="1"/>
              </p:cNvSpPr>
              <p:nvPr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3" name="Rectangle 29"/>
              <p:cNvSpPr>
                <a:spLocks noChangeArrowheads="1"/>
              </p:cNvSpPr>
              <p:nvPr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4" name="Rectangle 30"/>
              <p:cNvSpPr>
                <a:spLocks noChangeArrowheads="1"/>
              </p:cNvSpPr>
              <p:nvPr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5" name="Rectangle 31"/>
              <p:cNvSpPr>
                <a:spLocks noChangeArrowheads="1"/>
              </p:cNvSpPr>
              <p:nvPr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6" name="Rectangle 32"/>
              <p:cNvSpPr>
                <a:spLocks noChangeArrowheads="1"/>
              </p:cNvSpPr>
              <p:nvPr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7" name="Freeform 33"/>
              <p:cNvSpPr>
                <a:spLocks/>
              </p:cNvSpPr>
              <p:nvPr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8" name="Rectangle 34"/>
              <p:cNvSpPr>
                <a:spLocks noChangeArrowheads="1"/>
              </p:cNvSpPr>
              <p:nvPr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29" name="Rectangle 35"/>
              <p:cNvSpPr>
                <a:spLocks noChangeArrowheads="1"/>
              </p:cNvSpPr>
              <p:nvPr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30" name="Rectangle 36"/>
              <p:cNvSpPr>
                <a:spLocks noChangeArrowheads="1"/>
              </p:cNvSpPr>
              <p:nvPr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</p:grpSp>
        <p:grpSp>
          <p:nvGrpSpPr>
            <p:cNvPr id="104" name="Group 32"/>
            <p:cNvGrpSpPr/>
            <p:nvPr/>
          </p:nvGrpSpPr>
          <p:grpSpPr>
            <a:xfrm>
              <a:off x="518032" y="978681"/>
              <a:ext cx="4572000" cy="2667393"/>
              <a:chOff x="518032" y="978681"/>
              <a:chExt cx="4572000" cy="2667393"/>
            </a:xfrm>
          </p:grpSpPr>
          <p:sp>
            <p:nvSpPr>
              <p:cNvPr id="105" name="Rectangle 37"/>
              <p:cNvSpPr>
                <a:spLocks noChangeArrowheads="1"/>
              </p:cNvSpPr>
              <p:nvPr userDrawn="1"/>
            </p:nvSpPr>
            <p:spPr bwMode="black">
              <a:xfrm>
                <a:off x="3295650" y="978681"/>
                <a:ext cx="1143000" cy="263229"/>
              </a:xfrm>
              <a:prstGeom prst="rect">
                <a:avLst/>
              </a:prstGeom>
              <a:solidFill>
                <a:srgbClr val="A1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  <p:sp>
            <p:nvSpPr>
              <p:cNvPr id="106" name="Freeform 7"/>
              <p:cNvSpPr>
                <a:spLocks noEditPoints="1"/>
              </p:cNvSpPr>
              <p:nvPr userDrawn="1"/>
            </p:nvSpPr>
            <p:spPr bwMode="black">
              <a:xfrm>
                <a:off x="518032" y="1922794"/>
                <a:ext cx="4572000" cy="1723280"/>
              </a:xfrm>
              <a:custGeom>
                <a:avLst/>
                <a:gdLst/>
                <a:ahLst/>
                <a:cxnLst>
                  <a:cxn ang="0">
                    <a:pos x="581" y="233"/>
                  </a:cxn>
                  <a:cxn ang="0">
                    <a:pos x="538" y="949"/>
                  </a:cxn>
                  <a:cxn ang="0">
                    <a:pos x="630" y="946"/>
                  </a:cxn>
                  <a:cxn ang="0">
                    <a:pos x="793" y="880"/>
                  </a:cxn>
                  <a:cxn ang="0">
                    <a:pos x="886" y="728"/>
                  </a:cxn>
                  <a:cxn ang="0">
                    <a:pos x="905" y="505"/>
                  </a:cxn>
                  <a:cxn ang="0">
                    <a:pos x="850" y="329"/>
                  </a:cxn>
                  <a:cxn ang="0">
                    <a:pos x="727" y="241"/>
                  </a:cxn>
                  <a:cxn ang="0">
                    <a:pos x="521" y="3"/>
                  </a:cxn>
                  <a:cxn ang="0">
                    <a:pos x="643" y="74"/>
                  </a:cxn>
                  <a:cxn ang="0">
                    <a:pos x="761" y="24"/>
                  </a:cxn>
                  <a:cxn ang="0">
                    <a:pos x="855" y="9"/>
                  </a:cxn>
                  <a:cxn ang="0">
                    <a:pos x="1026" y="40"/>
                  </a:cxn>
                  <a:cxn ang="0">
                    <a:pos x="1180" y="172"/>
                  </a:cxn>
                  <a:cxn ang="0">
                    <a:pos x="1265" y="383"/>
                  </a:cxn>
                  <a:cxn ang="0">
                    <a:pos x="1265" y="641"/>
                  </a:cxn>
                  <a:cxn ang="0">
                    <a:pos x="1175" y="857"/>
                  </a:cxn>
                  <a:cxn ang="0">
                    <a:pos x="1005" y="1006"/>
                  </a:cxn>
                  <a:cxn ang="0">
                    <a:pos x="766" y="1074"/>
                  </a:cxn>
                  <a:cxn ang="0">
                    <a:pos x="601" y="1074"/>
                  </a:cxn>
                  <a:cxn ang="0">
                    <a:pos x="692" y="1447"/>
                  </a:cxn>
                  <a:cxn ang="0">
                    <a:pos x="171" y="1408"/>
                  </a:cxn>
                  <a:cxn ang="0">
                    <a:pos x="413" y="3"/>
                  </a:cxn>
                  <a:cxn ang="0">
                    <a:pos x="3876" y="20"/>
                  </a:cxn>
                  <a:cxn ang="0">
                    <a:pos x="4036" y="100"/>
                  </a:cxn>
                  <a:cxn ang="0">
                    <a:pos x="4113" y="232"/>
                  </a:cxn>
                  <a:cxn ang="0">
                    <a:pos x="4091" y="362"/>
                  </a:cxn>
                  <a:cxn ang="0">
                    <a:pos x="3995" y="436"/>
                  </a:cxn>
                  <a:cxn ang="0">
                    <a:pos x="3859" y="438"/>
                  </a:cxn>
                  <a:cxn ang="0">
                    <a:pos x="3757" y="114"/>
                  </a:cxn>
                  <a:cxn ang="0">
                    <a:pos x="3597" y="187"/>
                  </a:cxn>
                  <a:cxn ang="0">
                    <a:pos x="3508" y="339"/>
                  </a:cxn>
                  <a:cxn ang="0">
                    <a:pos x="3489" y="565"/>
                  </a:cxn>
                  <a:cxn ang="0">
                    <a:pos x="3547" y="753"/>
                  </a:cxn>
                  <a:cxn ang="0">
                    <a:pos x="3668" y="869"/>
                  </a:cxn>
                  <a:cxn ang="0">
                    <a:pos x="3821" y="896"/>
                  </a:cxn>
                  <a:cxn ang="0">
                    <a:pos x="3931" y="872"/>
                  </a:cxn>
                  <a:cxn ang="0">
                    <a:pos x="4079" y="810"/>
                  </a:cxn>
                  <a:cxn ang="0">
                    <a:pos x="4016" y="1024"/>
                  </a:cxn>
                  <a:cxn ang="0">
                    <a:pos x="3830" y="1080"/>
                  </a:cxn>
                  <a:cxn ang="0">
                    <a:pos x="3651" y="1095"/>
                  </a:cxn>
                  <a:cxn ang="0">
                    <a:pos x="3426" y="1060"/>
                  </a:cxn>
                  <a:cxn ang="0">
                    <a:pos x="3255" y="947"/>
                  </a:cxn>
                  <a:cxn ang="0">
                    <a:pos x="3140" y="772"/>
                  </a:cxn>
                  <a:cxn ang="0">
                    <a:pos x="3101" y="561"/>
                  </a:cxn>
                  <a:cxn ang="0">
                    <a:pos x="3153" y="318"/>
                  </a:cxn>
                  <a:cxn ang="0">
                    <a:pos x="3293" y="135"/>
                  </a:cxn>
                  <a:cxn ang="0">
                    <a:pos x="3508" y="27"/>
                  </a:cxn>
                  <a:cxn ang="0">
                    <a:pos x="2910" y="0"/>
                  </a:cxn>
                  <a:cxn ang="0">
                    <a:pos x="3040" y="52"/>
                  </a:cxn>
                  <a:cxn ang="0">
                    <a:pos x="3093" y="178"/>
                  </a:cxn>
                  <a:cxn ang="0">
                    <a:pos x="3071" y="277"/>
                  </a:cxn>
                  <a:cxn ang="0">
                    <a:pos x="3004" y="393"/>
                  </a:cxn>
                  <a:cxn ang="0">
                    <a:pos x="2876" y="561"/>
                  </a:cxn>
                  <a:cxn ang="0">
                    <a:pos x="1784" y="1078"/>
                  </a:cxn>
                  <a:cxn ang="0">
                    <a:pos x="1313" y="118"/>
                  </a:cxn>
                  <a:cxn ang="0">
                    <a:pos x="2247" y="25"/>
                  </a:cxn>
                  <a:cxn ang="0">
                    <a:pos x="2759" y="62"/>
                  </a:cxn>
                  <a:cxn ang="0">
                    <a:pos x="2872" y="4"/>
                  </a:cxn>
                </a:cxnLst>
                <a:rect l="0" t="0" r="r" b="b"/>
                <a:pathLst>
                  <a:path w="4127" h="1544">
                    <a:moveTo>
                      <a:pt x="640" y="229"/>
                    </a:moveTo>
                    <a:lnTo>
                      <a:pt x="622" y="229"/>
                    </a:lnTo>
                    <a:lnTo>
                      <a:pt x="603" y="230"/>
                    </a:lnTo>
                    <a:lnTo>
                      <a:pt x="581" y="233"/>
                    </a:lnTo>
                    <a:lnTo>
                      <a:pt x="553" y="235"/>
                    </a:lnTo>
                    <a:lnTo>
                      <a:pt x="521" y="241"/>
                    </a:lnTo>
                    <a:lnTo>
                      <a:pt x="521" y="947"/>
                    </a:lnTo>
                    <a:lnTo>
                      <a:pt x="538" y="949"/>
                    </a:lnTo>
                    <a:lnTo>
                      <a:pt x="553" y="949"/>
                    </a:lnTo>
                    <a:lnTo>
                      <a:pt x="566" y="949"/>
                    </a:lnTo>
                    <a:lnTo>
                      <a:pt x="578" y="949"/>
                    </a:lnTo>
                    <a:lnTo>
                      <a:pt x="630" y="946"/>
                    </a:lnTo>
                    <a:lnTo>
                      <a:pt x="677" y="937"/>
                    </a:lnTo>
                    <a:lnTo>
                      <a:pt x="720" y="924"/>
                    </a:lnTo>
                    <a:lnTo>
                      <a:pt x="758" y="905"/>
                    </a:lnTo>
                    <a:lnTo>
                      <a:pt x="793" y="880"/>
                    </a:lnTo>
                    <a:lnTo>
                      <a:pt x="824" y="850"/>
                    </a:lnTo>
                    <a:lnTo>
                      <a:pt x="849" y="815"/>
                    </a:lnTo>
                    <a:lnTo>
                      <a:pt x="870" y="775"/>
                    </a:lnTo>
                    <a:lnTo>
                      <a:pt x="886" y="728"/>
                    </a:lnTo>
                    <a:lnTo>
                      <a:pt x="897" y="678"/>
                    </a:lnTo>
                    <a:lnTo>
                      <a:pt x="905" y="622"/>
                    </a:lnTo>
                    <a:lnTo>
                      <a:pt x="907" y="561"/>
                    </a:lnTo>
                    <a:lnTo>
                      <a:pt x="905" y="505"/>
                    </a:lnTo>
                    <a:lnTo>
                      <a:pt x="897" y="452"/>
                    </a:lnTo>
                    <a:lnTo>
                      <a:pt x="886" y="407"/>
                    </a:lnTo>
                    <a:lnTo>
                      <a:pt x="870" y="366"/>
                    </a:lnTo>
                    <a:lnTo>
                      <a:pt x="850" y="329"/>
                    </a:lnTo>
                    <a:lnTo>
                      <a:pt x="826" y="299"/>
                    </a:lnTo>
                    <a:lnTo>
                      <a:pt x="797" y="274"/>
                    </a:lnTo>
                    <a:lnTo>
                      <a:pt x="763" y="254"/>
                    </a:lnTo>
                    <a:lnTo>
                      <a:pt x="727" y="241"/>
                    </a:lnTo>
                    <a:lnTo>
                      <a:pt x="686" y="232"/>
                    </a:lnTo>
                    <a:lnTo>
                      <a:pt x="640" y="229"/>
                    </a:lnTo>
                    <a:close/>
                    <a:moveTo>
                      <a:pt x="413" y="3"/>
                    </a:moveTo>
                    <a:lnTo>
                      <a:pt x="521" y="3"/>
                    </a:lnTo>
                    <a:lnTo>
                      <a:pt x="521" y="143"/>
                    </a:lnTo>
                    <a:lnTo>
                      <a:pt x="566" y="117"/>
                    </a:lnTo>
                    <a:lnTo>
                      <a:pt x="607" y="93"/>
                    </a:lnTo>
                    <a:lnTo>
                      <a:pt x="643" y="74"/>
                    </a:lnTo>
                    <a:lnTo>
                      <a:pt x="677" y="57"/>
                    </a:lnTo>
                    <a:lnTo>
                      <a:pt x="707" y="44"/>
                    </a:lnTo>
                    <a:lnTo>
                      <a:pt x="735" y="33"/>
                    </a:lnTo>
                    <a:lnTo>
                      <a:pt x="761" y="24"/>
                    </a:lnTo>
                    <a:lnTo>
                      <a:pt x="785" y="18"/>
                    </a:lnTo>
                    <a:lnTo>
                      <a:pt x="809" y="13"/>
                    </a:lnTo>
                    <a:lnTo>
                      <a:pt x="831" y="10"/>
                    </a:lnTo>
                    <a:lnTo>
                      <a:pt x="855" y="9"/>
                    </a:lnTo>
                    <a:lnTo>
                      <a:pt x="879" y="8"/>
                    </a:lnTo>
                    <a:lnTo>
                      <a:pt x="931" y="12"/>
                    </a:lnTo>
                    <a:lnTo>
                      <a:pt x="980" y="23"/>
                    </a:lnTo>
                    <a:lnTo>
                      <a:pt x="1026" y="40"/>
                    </a:lnTo>
                    <a:lnTo>
                      <a:pt x="1070" y="64"/>
                    </a:lnTo>
                    <a:lnTo>
                      <a:pt x="1110" y="94"/>
                    </a:lnTo>
                    <a:lnTo>
                      <a:pt x="1148" y="130"/>
                    </a:lnTo>
                    <a:lnTo>
                      <a:pt x="1180" y="172"/>
                    </a:lnTo>
                    <a:lnTo>
                      <a:pt x="1209" y="218"/>
                    </a:lnTo>
                    <a:lnTo>
                      <a:pt x="1233" y="268"/>
                    </a:lnTo>
                    <a:lnTo>
                      <a:pt x="1252" y="324"/>
                    </a:lnTo>
                    <a:lnTo>
                      <a:pt x="1265" y="383"/>
                    </a:lnTo>
                    <a:lnTo>
                      <a:pt x="1274" y="446"/>
                    </a:lnTo>
                    <a:lnTo>
                      <a:pt x="1278" y="512"/>
                    </a:lnTo>
                    <a:lnTo>
                      <a:pt x="1274" y="578"/>
                    </a:lnTo>
                    <a:lnTo>
                      <a:pt x="1265" y="641"/>
                    </a:lnTo>
                    <a:lnTo>
                      <a:pt x="1252" y="701"/>
                    </a:lnTo>
                    <a:lnTo>
                      <a:pt x="1232" y="756"/>
                    </a:lnTo>
                    <a:lnTo>
                      <a:pt x="1205" y="809"/>
                    </a:lnTo>
                    <a:lnTo>
                      <a:pt x="1175" y="857"/>
                    </a:lnTo>
                    <a:lnTo>
                      <a:pt x="1140" y="901"/>
                    </a:lnTo>
                    <a:lnTo>
                      <a:pt x="1099" y="941"/>
                    </a:lnTo>
                    <a:lnTo>
                      <a:pt x="1054" y="976"/>
                    </a:lnTo>
                    <a:lnTo>
                      <a:pt x="1005" y="1006"/>
                    </a:lnTo>
                    <a:lnTo>
                      <a:pt x="951" y="1031"/>
                    </a:lnTo>
                    <a:lnTo>
                      <a:pt x="894" y="1051"/>
                    </a:lnTo>
                    <a:lnTo>
                      <a:pt x="831" y="1065"/>
                    </a:lnTo>
                    <a:lnTo>
                      <a:pt x="766" y="1074"/>
                    </a:lnTo>
                    <a:lnTo>
                      <a:pt x="696" y="1078"/>
                    </a:lnTo>
                    <a:lnTo>
                      <a:pt x="670" y="1078"/>
                    </a:lnTo>
                    <a:lnTo>
                      <a:pt x="637" y="1076"/>
                    </a:lnTo>
                    <a:lnTo>
                      <a:pt x="601" y="1074"/>
                    </a:lnTo>
                    <a:lnTo>
                      <a:pt x="561" y="1071"/>
                    </a:lnTo>
                    <a:lnTo>
                      <a:pt x="521" y="1068"/>
                    </a:lnTo>
                    <a:lnTo>
                      <a:pt x="521" y="1408"/>
                    </a:lnTo>
                    <a:lnTo>
                      <a:pt x="692" y="1447"/>
                    </a:lnTo>
                    <a:lnTo>
                      <a:pt x="692" y="1544"/>
                    </a:lnTo>
                    <a:lnTo>
                      <a:pt x="18" y="1544"/>
                    </a:lnTo>
                    <a:lnTo>
                      <a:pt x="18" y="1447"/>
                    </a:lnTo>
                    <a:lnTo>
                      <a:pt x="171" y="1408"/>
                    </a:lnTo>
                    <a:lnTo>
                      <a:pt x="171" y="229"/>
                    </a:lnTo>
                    <a:lnTo>
                      <a:pt x="0" y="229"/>
                    </a:lnTo>
                    <a:lnTo>
                      <a:pt x="0" y="128"/>
                    </a:lnTo>
                    <a:lnTo>
                      <a:pt x="413" y="3"/>
                    </a:lnTo>
                    <a:close/>
                    <a:moveTo>
                      <a:pt x="3711" y="0"/>
                    </a:moveTo>
                    <a:lnTo>
                      <a:pt x="3770" y="3"/>
                    </a:lnTo>
                    <a:lnTo>
                      <a:pt x="3825" y="9"/>
                    </a:lnTo>
                    <a:lnTo>
                      <a:pt x="3876" y="20"/>
                    </a:lnTo>
                    <a:lnTo>
                      <a:pt x="3923" y="34"/>
                    </a:lnTo>
                    <a:lnTo>
                      <a:pt x="3965" y="53"/>
                    </a:lnTo>
                    <a:lnTo>
                      <a:pt x="4004" y="75"/>
                    </a:lnTo>
                    <a:lnTo>
                      <a:pt x="4036" y="100"/>
                    </a:lnTo>
                    <a:lnTo>
                      <a:pt x="4064" y="129"/>
                    </a:lnTo>
                    <a:lnTo>
                      <a:pt x="4086" y="160"/>
                    </a:lnTo>
                    <a:lnTo>
                      <a:pt x="4103" y="194"/>
                    </a:lnTo>
                    <a:lnTo>
                      <a:pt x="4113" y="232"/>
                    </a:lnTo>
                    <a:lnTo>
                      <a:pt x="4117" y="271"/>
                    </a:lnTo>
                    <a:lnTo>
                      <a:pt x="4114" y="304"/>
                    </a:lnTo>
                    <a:lnTo>
                      <a:pt x="4105" y="334"/>
                    </a:lnTo>
                    <a:lnTo>
                      <a:pt x="4091" y="362"/>
                    </a:lnTo>
                    <a:lnTo>
                      <a:pt x="4074" y="387"/>
                    </a:lnTo>
                    <a:lnTo>
                      <a:pt x="4051" y="407"/>
                    </a:lnTo>
                    <a:lnTo>
                      <a:pt x="4025" y="423"/>
                    </a:lnTo>
                    <a:lnTo>
                      <a:pt x="3995" y="436"/>
                    </a:lnTo>
                    <a:lnTo>
                      <a:pt x="3961" y="443"/>
                    </a:lnTo>
                    <a:lnTo>
                      <a:pt x="3925" y="446"/>
                    </a:lnTo>
                    <a:lnTo>
                      <a:pt x="3891" y="444"/>
                    </a:lnTo>
                    <a:lnTo>
                      <a:pt x="3859" y="438"/>
                    </a:lnTo>
                    <a:lnTo>
                      <a:pt x="3826" y="428"/>
                    </a:lnTo>
                    <a:lnTo>
                      <a:pt x="3792" y="413"/>
                    </a:lnTo>
                    <a:lnTo>
                      <a:pt x="3757" y="394"/>
                    </a:lnTo>
                    <a:lnTo>
                      <a:pt x="3757" y="114"/>
                    </a:lnTo>
                    <a:lnTo>
                      <a:pt x="3711" y="125"/>
                    </a:lnTo>
                    <a:lnTo>
                      <a:pt x="3668" y="140"/>
                    </a:lnTo>
                    <a:lnTo>
                      <a:pt x="3631" y="162"/>
                    </a:lnTo>
                    <a:lnTo>
                      <a:pt x="3597" y="187"/>
                    </a:lnTo>
                    <a:lnTo>
                      <a:pt x="3568" y="218"/>
                    </a:lnTo>
                    <a:lnTo>
                      <a:pt x="3543" y="253"/>
                    </a:lnTo>
                    <a:lnTo>
                      <a:pt x="3523" y="294"/>
                    </a:lnTo>
                    <a:lnTo>
                      <a:pt x="3508" y="339"/>
                    </a:lnTo>
                    <a:lnTo>
                      <a:pt x="3497" y="391"/>
                    </a:lnTo>
                    <a:lnTo>
                      <a:pt x="3489" y="447"/>
                    </a:lnTo>
                    <a:lnTo>
                      <a:pt x="3487" y="507"/>
                    </a:lnTo>
                    <a:lnTo>
                      <a:pt x="3489" y="565"/>
                    </a:lnTo>
                    <a:lnTo>
                      <a:pt x="3497" y="617"/>
                    </a:lnTo>
                    <a:lnTo>
                      <a:pt x="3509" y="667"/>
                    </a:lnTo>
                    <a:lnTo>
                      <a:pt x="3526" y="712"/>
                    </a:lnTo>
                    <a:lnTo>
                      <a:pt x="3547" y="753"/>
                    </a:lnTo>
                    <a:lnTo>
                      <a:pt x="3571" y="790"/>
                    </a:lnTo>
                    <a:lnTo>
                      <a:pt x="3600" y="821"/>
                    </a:lnTo>
                    <a:lnTo>
                      <a:pt x="3632" y="847"/>
                    </a:lnTo>
                    <a:lnTo>
                      <a:pt x="3668" y="869"/>
                    </a:lnTo>
                    <a:lnTo>
                      <a:pt x="3707" y="885"/>
                    </a:lnTo>
                    <a:lnTo>
                      <a:pt x="3750" y="894"/>
                    </a:lnTo>
                    <a:lnTo>
                      <a:pt x="3795" y="897"/>
                    </a:lnTo>
                    <a:lnTo>
                      <a:pt x="3821" y="896"/>
                    </a:lnTo>
                    <a:lnTo>
                      <a:pt x="3847" y="894"/>
                    </a:lnTo>
                    <a:lnTo>
                      <a:pt x="3874" y="889"/>
                    </a:lnTo>
                    <a:lnTo>
                      <a:pt x="3901" y="881"/>
                    </a:lnTo>
                    <a:lnTo>
                      <a:pt x="3931" y="872"/>
                    </a:lnTo>
                    <a:lnTo>
                      <a:pt x="3964" y="861"/>
                    </a:lnTo>
                    <a:lnTo>
                      <a:pt x="3999" y="846"/>
                    </a:lnTo>
                    <a:lnTo>
                      <a:pt x="4036" y="830"/>
                    </a:lnTo>
                    <a:lnTo>
                      <a:pt x="4079" y="810"/>
                    </a:lnTo>
                    <a:lnTo>
                      <a:pt x="4127" y="787"/>
                    </a:lnTo>
                    <a:lnTo>
                      <a:pt x="4127" y="976"/>
                    </a:lnTo>
                    <a:lnTo>
                      <a:pt x="4069" y="1001"/>
                    </a:lnTo>
                    <a:lnTo>
                      <a:pt x="4016" y="1024"/>
                    </a:lnTo>
                    <a:lnTo>
                      <a:pt x="3966" y="1041"/>
                    </a:lnTo>
                    <a:lnTo>
                      <a:pt x="3919" y="1058"/>
                    </a:lnTo>
                    <a:lnTo>
                      <a:pt x="3874" y="1070"/>
                    </a:lnTo>
                    <a:lnTo>
                      <a:pt x="3830" y="1080"/>
                    </a:lnTo>
                    <a:lnTo>
                      <a:pt x="3786" y="1086"/>
                    </a:lnTo>
                    <a:lnTo>
                      <a:pt x="3742" y="1091"/>
                    </a:lnTo>
                    <a:lnTo>
                      <a:pt x="3697" y="1094"/>
                    </a:lnTo>
                    <a:lnTo>
                      <a:pt x="3651" y="1095"/>
                    </a:lnTo>
                    <a:lnTo>
                      <a:pt x="3588" y="1093"/>
                    </a:lnTo>
                    <a:lnTo>
                      <a:pt x="3530" y="1086"/>
                    </a:lnTo>
                    <a:lnTo>
                      <a:pt x="3476" y="1075"/>
                    </a:lnTo>
                    <a:lnTo>
                      <a:pt x="3426" y="1060"/>
                    </a:lnTo>
                    <a:lnTo>
                      <a:pt x="3378" y="1039"/>
                    </a:lnTo>
                    <a:lnTo>
                      <a:pt x="3334" y="1014"/>
                    </a:lnTo>
                    <a:lnTo>
                      <a:pt x="3294" y="984"/>
                    </a:lnTo>
                    <a:lnTo>
                      <a:pt x="3255" y="947"/>
                    </a:lnTo>
                    <a:lnTo>
                      <a:pt x="3219" y="907"/>
                    </a:lnTo>
                    <a:lnTo>
                      <a:pt x="3188" y="865"/>
                    </a:lnTo>
                    <a:lnTo>
                      <a:pt x="3162" y="820"/>
                    </a:lnTo>
                    <a:lnTo>
                      <a:pt x="3140" y="772"/>
                    </a:lnTo>
                    <a:lnTo>
                      <a:pt x="3124" y="722"/>
                    </a:lnTo>
                    <a:lnTo>
                      <a:pt x="3111" y="670"/>
                    </a:lnTo>
                    <a:lnTo>
                      <a:pt x="3104" y="616"/>
                    </a:lnTo>
                    <a:lnTo>
                      <a:pt x="3101" y="561"/>
                    </a:lnTo>
                    <a:lnTo>
                      <a:pt x="3105" y="494"/>
                    </a:lnTo>
                    <a:lnTo>
                      <a:pt x="3115" y="433"/>
                    </a:lnTo>
                    <a:lnTo>
                      <a:pt x="3130" y="373"/>
                    </a:lnTo>
                    <a:lnTo>
                      <a:pt x="3153" y="318"/>
                    </a:lnTo>
                    <a:lnTo>
                      <a:pt x="3179" y="267"/>
                    </a:lnTo>
                    <a:lnTo>
                      <a:pt x="3213" y="219"/>
                    </a:lnTo>
                    <a:lnTo>
                      <a:pt x="3250" y="175"/>
                    </a:lnTo>
                    <a:lnTo>
                      <a:pt x="3293" y="135"/>
                    </a:lnTo>
                    <a:lnTo>
                      <a:pt x="3341" y="102"/>
                    </a:lnTo>
                    <a:lnTo>
                      <a:pt x="3392" y="72"/>
                    </a:lnTo>
                    <a:lnTo>
                      <a:pt x="3448" y="47"/>
                    </a:lnTo>
                    <a:lnTo>
                      <a:pt x="3508" y="27"/>
                    </a:lnTo>
                    <a:lnTo>
                      <a:pt x="3573" y="12"/>
                    </a:lnTo>
                    <a:lnTo>
                      <a:pt x="3640" y="3"/>
                    </a:lnTo>
                    <a:lnTo>
                      <a:pt x="3711" y="0"/>
                    </a:lnTo>
                    <a:close/>
                    <a:moveTo>
                      <a:pt x="2910" y="0"/>
                    </a:moveTo>
                    <a:lnTo>
                      <a:pt x="2948" y="4"/>
                    </a:lnTo>
                    <a:lnTo>
                      <a:pt x="2983" y="14"/>
                    </a:lnTo>
                    <a:lnTo>
                      <a:pt x="3014" y="30"/>
                    </a:lnTo>
                    <a:lnTo>
                      <a:pt x="3040" y="52"/>
                    </a:lnTo>
                    <a:lnTo>
                      <a:pt x="3063" y="78"/>
                    </a:lnTo>
                    <a:lnTo>
                      <a:pt x="3079" y="109"/>
                    </a:lnTo>
                    <a:lnTo>
                      <a:pt x="3089" y="142"/>
                    </a:lnTo>
                    <a:lnTo>
                      <a:pt x="3093" y="178"/>
                    </a:lnTo>
                    <a:lnTo>
                      <a:pt x="3091" y="203"/>
                    </a:lnTo>
                    <a:lnTo>
                      <a:pt x="3088" y="227"/>
                    </a:lnTo>
                    <a:lnTo>
                      <a:pt x="3081" y="252"/>
                    </a:lnTo>
                    <a:lnTo>
                      <a:pt x="3071" y="277"/>
                    </a:lnTo>
                    <a:lnTo>
                      <a:pt x="3060" y="303"/>
                    </a:lnTo>
                    <a:lnTo>
                      <a:pt x="3044" y="331"/>
                    </a:lnTo>
                    <a:lnTo>
                      <a:pt x="3025" y="361"/>
                    </a:lnTo>
                    <a:lnTo>
                      <a:pt x="3004" y="393"/>
                    </a:lnTo>
                    <a:lnTo>
                      <a:pt x="2978" y="429"/>
                    </a:lnTo>
                    <a:lnTo>
                      <a:pt x="2948" y="468"/>
                    </a:lnTo>
                    <a:lnTo>
                      <a:pt x="2914" y="512"/>
                    </a:lnTo>
                    <a:lnTo>
                      <a:pt x="2876" y="561"/>
                    </a:lnTo>
                    <a:lnTo>
                      <a:pt x="2472" y="1078"/>
                    </a:lnTo>
                    <a:lnTo>
                      <a:pt x="2182" y="1078"/>
                    </a:lnTo>
                    <a:lnTo>
                      <a:pt x="2182" y="424"/>
                    </a:lnTo>
                    <a:lnTo>
                      <a:pt x="1784" y="1078"/>
                    </a:lnTo>
                    <a:lnTo>
                      <a:pt x="1518" y="1078"/>
                    </a:lnTo>
                    <a:lnTo>
                      <a:pt x="1518" y="234"/>
                    </a:lnTo>
                    <a:lnTo>
                      <a:pt x="1313" y="214"/>
                    </a:lnTo>
                    <a:lnTo>
                      <a:pt x="1313" y="118"/>
                    </a:lnTo>
                    <a:lnTo>
                      <a:pt x="1690" y="25"/>
                    </a:lnTo>
                    <a:lnTo>
                      <a:pt x="1832" y="25"/>
                    </a:lnTo>
                    <a:lnTo>
                      <a:pt x="1832" y="713"/>
                    </a:lnTo>
                    <a:lnTo>
                      <a:pt x="2247" y="25"/>
                    </a:lnTo>
                    <a:lnTo>
                      <a:pt x="2497" y="25"/>
                    </a:lnTo>
                    <a:lnTo>
                      <a:pt x="2497" y="822"/>
                    </a:lnTo>
                    <a:lnTo>
                      <a:pt x="2759" y="473"/>
                    </a:lnTo>
                    <a:lnTo>
                      <a:pt x="2759" y="62"/>
                    </a:lnTo>
                    <a:lnTo>
                      <a:pt x="2779" y="44"/>
                    </a:lnTo>
                    <a:lnTo>
                      <a:pt x="2806" y="27"/>
                    </a:lnTo>
                    <a:lnTo>
                      <a:pt x="2837" y="13"/>
                    </a:lnTo>
                    <a:lnTo>
                      <a:pt x="2872" y="4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2939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 userDrawn="1"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31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812801" y="3048000"/>
            <a:ext cx="1219200" cy="76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/>
              <a:t>Click icon to add picture</a:t>
            </a:r>
          </a:p>
        </p:txBody>
      </p:sp>
      <p:grpSp>
        <p:nvGrpSpPr>
          <p:cNvPr id="3" name="Group 31"/>
          <p:cNvGrpSpPr/>
          <p:nvPr/>
        </p:nvGrpSpPr>
        <p:grpSpPr>
          <a:xfrm>
            <a:off x="652115" y="2901698"/>
            <a:ext cx="1613003" cy="151219"/>
            <a:chOff x="489087" y="2521685"/>
            <a:chExt cx="1209752" cy="151219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the presentation’s main title</a:t>
            </a:r>
          </a:p>
        </p:txBody>
      </p:sp>
      <p:sp>
        <p:nvSpPr>
          <p:cNvPr id="4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Subtitle and date (move higher if title is only one line)</a:t>
            </a:r>
            <a:endParaRPr lang="en-US" noProof="0" dirty="0"/>
          </a:p>
        </p:txBody>
      </p:sp>
      <p:sp>
        <p:nvSpPr>
          <p:cNvPr id="47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/>
              <a:t>www.pwc.com</a:t>
            </a:r>
          </a:p>
        </p:txBody>
      </p:sp>
      <p:grpSp>
        <p:nvGrpSpPr>
          <p:cNvPr id="96" name="Group 32"/>
          <p:cNvGrpSpPr/>
          <p:nvPr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371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 userDrawn="1"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54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the presentation’s main title</a:t>
            </a:r>
            <a:endParaRPr lang="en-US" noProof="0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Subtitle and date (move higher if title is only one line)</a:t>
            </a:r>
            <a:endParaRPr lang="en-US" noProof="0" dirty="0"/>
          </a:p>
        </p:txBody>
      </p:sp>
      <p:sp>
        <p:nvSpPr>
          <p:cNvPr id="56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/>
              <a:t>www.pwc.com</a:t>
            </a:r>
          </a:p>
        </p:txBody>
      </p:sp>
      <p:sp>
        <p:nvSpPr>
          <p:cNvPr id="17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2336800" y="2899978"/>
            <a:ext cx="8432800" cy="3272223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/>
              <a:t>Click icon to add picture</a:t>
            </a:r>
          </a:p>
        </p:txBody>
      </p:sp>
      <p:grpSp>
        <p:nvGrpSpPr>
          <p:cNvPr id="18" name="Group 32"/>
          <p:cNvGrpSpPr/>
          <p:nvPr userDrawn="1"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0077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9855200" y="685802"/>
            <a:ext cx="2336800" cy="54863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noProof="0" dirty="0"/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2336800" y="0"/>
            <a:ext cx="7518400" cy="685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noProof="0" dirty="0"/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2336800" y="685800"/>
            <a:ext cx="7518400" cy="5486400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noProof="0" dirty="0"/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the presentation’s main title</a:t>
            </a:r>
            <a:endParaRPr lang="en-US" noProof="0" dirty="0"/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Subtitle and date (move higher if title is only one line)</a:t>
            </a:r>
            <a:endParaRPr lang="en-US" noProof="0" dirty="0"/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/>
              <a:t>www.pwc.com</a:t>
            </a:r>
          </a:p>
        </p:txBody>
      </p:sp>
      <p:grpSp>
        <p:nvGrpSpPr>
          <p:cNvPr id="11" name="Group 32"/>
          <p:cNvGrpSpPr/>
          <p:nvPr userDrawn="1"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95806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5867400"/>
            <a:ext cx="6400800" cy="762000"/>
          </a:xfrm>
        </p:spPr>
        <p:txBody>
          <a:bodyPr anchor="b"/>
          <a:lstStyle>
            <a:lvl1pPr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/>
              <a:t>Add legal and copyright disclaimers here.</a:t>
            </a:r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354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704" y="2130653"/>
            <a:ext cx="10362595" cy="14695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406" y="3885974"/>
            <a:ext cx="8533191" cy="17530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26532" indent="0" algn="ctr">
              <a:buNone/>
              <a:defRPr/>
            </a:lvl2pPr>
            <a:lvl3pPr marL="653064" indent="0" algn="ctr">
              <a:buNone/>
              <a:defRPr/>
            </a:lvl3pPr>
            <a:lvl4pPr marL="979597" indent="0" algn="ctr">
              <a:buNone/>
              <a:defRPr/>
            </a:lvl4pPr>
            <a:lvl5pPr marL="1306129" indent="0" algn="ctr">
              <a:buNone/>
              <a:defRPr/>
            </a:lvl5pPr>
            <a:lvl6pPr marL="1632661" indent="0" algn="ctr">
              <a:buNone/>
              <a:defRPr/>
            </a:lvl6pPr>
            <a:lvl7pPr marL="1959193" indent="0" algn="ctr">
              <a:buNone/>
              <a:defRPr/>
            </a:lvl7pPr>
            <a:lvl8pPr marL="2285726" indent="0" algn="ctr">
              <a:buNone/>
              <a:defRPr/>
            </a:lvl8pPr>
            <a:lvl9pPr marL="261225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October 2012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PT. Pelindo II - Presentation for Establishment of Shared Service Organization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A56578-C070-48AB-BF7A-5E82F0973757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5725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33486" y="6692493"/>
            <a:ext cx="5012596" cy="93552"/>
          </a:xfrm>
        </p:spPr>
        <p:txBody>
          <a:bodyPr vert="horz" wrap="square" lIns="0" tIns="0" rIns="0" bIns="0" rtlCol="0" anchor="ctr">
            <a:spAutoFit/>
          </a:bodyPr>
          <a:lstStyle>
            <a:lvl1pPr marL="0" algn="l" defTabSz="822583" rtl="0" eaLnBrk="1" latinLnBrk="0" hangingPunct="1">
              <a:defRPr lang="en-US" sz="608" b="1" i="1" kern="1200" smtClean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“Taking the BOTs out of Humans” PwC India – Intelligent Process Automation CoE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14919" y="6657197"/>
            <a:ext cx="2844800" cy="138499"/>
          </a:xfrm>
        </p:spPr>
        <p:txBody>
          <a:bodyPr/>
          <a:lstStyle>
            <a:lvl1pPr>
              <a:defRPr sz="608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F06B2653-D1AD-46BA-BB88-3123B5BA21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7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1" y="685800"/>
            <a:ext cx="10769601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2" y="1752600"/>
            <a:ext cx="10769599" cy="441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7136" y="6324600"/>
            <a:ext cx="7014464" cy="15087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/>
              <a:t>PT. Pelindo II - Presentation for Establishment of Shared Service Organization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October 2012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/>
              <a:t>Page </a:t>
            </a:r>
            <a:fld id="{260B3060-CCFA-4D89-8EB6-67A31218021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5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.xml"/><Relationship Id="rId1" Type="http://schemas.openxmlformats.org/officeDocument/2006/relationships/customXml" Target="../../customXml/item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3738" y="470393"/>
            <a:ext cx="8800505" cy="914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Sunny Savita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A3202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Generative AI </a:t>
            </a:r>
            <a:r>
              <a:rPr lang="en-GB" sz="1600" b="1" i="1" dirty="0">
                <a:solidFill>
                  <a:srgbClr val="A32020"/>
                </a:solidFill>
                <a:latin typeface="Georgia"/>
              </a:rPr>
              <a:t>Engineer</a:t>
            </a:r>
            <a:endParaRPr kumimoji="0" lang="en-GB" sz="1600" b="1" i="1" u="none" strike="noStrike" kern="1200" cap="none" spc="0" normalizeH="0" baseline="0" noProof="0" dirty="0">
              <a:ln>
                <a:noFill/>
              </a:ln>
              <a:solidFill>
                <a:srgbClr val="A3202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Content Placeholder 3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786270" y="1242546"/>
            <a:ext cx="8250865" cy="5615454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pPr marL="207645" marR="0" lvl="1" indent="-207645" algn="l" defTabSz="914394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38"/>
              </a:spcAft>
              <a:buClr>
                <a:srgbClr val="A32020"/>
              </a:buClr>
              <a:buSzTx/>
              <a:buFontTx/>
              <a:buNone/>
              <a:tabLst/>
              <a:defRPr/>
            </a:pPr>
            <a:r>
              <a:rPr kumimoji="0" lang="en-GB" sz="950" b="1" i="0" u="none" strike="noStrike" kern="1200" cap="none" spc="0" normalizeH="0" baseline="0" noProof="0" dirty="0">
                <a:ln>
                  <a:noFill/>
                </a:ln>
                <a:solidFill>
                  <a:srgbClr val="A32020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Introduction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r>
              <a:rPr lang="en-US" sz="900" dirty="0">
                <a:solidFill>
                  <a:srgbClr val="000000"/>
                </a:solidFill>
                <a:latin typeface="Georgia" panose="02040502050405020303" pitchFamily="18" charset="0"/>
              </a:rPr>
              <a:t>Sunny is an experienced consultant with 5 years of hands-on expertise in Generative AI and Large Language Models. He specializes in fine-tuning, Retrieval-Augmented Generation (RAG), Multimodal RAG, Agentic AI, and multi-agent systems, with a strong foundation in Python, Machine Learning (ML), Deep Learning (DL), and Natural Language Processing (NLP). He has successfully built and deployed RAG and Multimodal RAG pipelines using open-source frameworks and AWS services such as Amazon Bedrock, Amazon SageMaker, Amazon OpenSearch Service, and Amazon ECS/EKS (Fargate). In the agentic AI domain, Sunny has designed and implemented supervisor-agent and collaborative workflows using LangGraph and Crew AI.</a:t>
            </a:r>
          </a:p>
          <a:p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2040502050405020303" pitchFamily="18" charset="0"/>
            </a:endParaRPr>
          </a:p>
          <a:p>
            <a:pPr marL="0" marR="0" lvl="1" indent="0" algn="just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50" b="1" i="0" u="none" strike="noStrike" kern="1200" cap="none" spc="0" normalizeH="0" baseline="0" noProof="0" dirty="0">
                <a:ln>
                  <a:noFill/>
                </a:ln>
                <a:solidFill>
                  <a:srgbClr val="A3202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 experience</a:t>
            </a:r>
          </a:p>
          <a:p>
            <a:pPr lvl="0" algn="just">
              <a:defRPr/>
            </a:pPr>
            <a:r>
              <a:rPr lang="en-US" sz="950" b="1" dirty="0">
                <a:solidFill>
                  <a:srgbClr val="A32020"/>
                </a:solidFill>
                <a:latin typeface="Georgia"/>
              </a:rPr>
              <a:t>Autonomous Scientific Report Generation with Multi-Agent AI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A3202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 </a:t>
            </a:r>
          </a:p>
          <a:p>
            <a:pPr lvl="0" algn="just">
              <a:defRPr/>
            </a:pPr>
            <a:r>
              <a:rPr lang="en-US" sz="900" dirty="0">
                <a:latin typeface="+mj-lt"/>
              </a:rPr>
              <a:t>This AI-powered system automates the generation of scientific reports based on molecular research outputs. It leverages advanced NLP and LLM techniques to synthesize experimental data, analysis results, and domain-specific findings into structured, high-quality scientific reports.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+mj-lt"/>
              </a:rPr>
              <a:t>Developed a retrieval-augmented pipeline with a Maximum Marginal Relevance (MMR) reranker to ensure diverse and contextually relevant information retrieval from internal research documents.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+mj-lt"/>
              </a:rPr>
              <a:t>Built a multi-agent system using LangChain and LangGraph, where each agent specialized in parsing and synthesizing different data modalities — text, tables, and images — for report generation.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+mj-lt"/>
              </a:rPr>
              <a:t>Integrated LangChain tool-calling capabilities, enabling agents to access external resources (e.g., literature APIs, document parsers) as part of their workflows.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+mj-lt"/>
              </a:rPr>
              <a:t>Designed and implemented an automated rendering system to export the final reports in both DOCX and PDF formats using python-docx and templating logic for professional, publication-ready formatting.</a:t>
            </a:r>
          </a:p>
          <a:p>
            <a:pPr lvl="0" algn="just">
              <a:defRPr/>
            </a:pPr>
            <a:r>
              <a:rPr lang="en-US" sz="950" b="1" dirty="0">
                <a:solidFill>
                  <a:srgbClr val="A32020"/>
                </a:solidFill>
                <a:latin typeface="Georgia"/>
              </a:rPr>
              <a:t>SDLC Copilot System With Agents and Advance RAG: </a:t>
            </a:r>
          </a:p>
          <a:p>
            <a:pPr lvl="0" algn="just">
              <a:defRPr/>
            </a:pPr>
            <a:r>
              <a:rPr lang="en-US" sz="900" dirty="0">
                <a:solidFill>
                  <a:srgbClr val="000000"/>
                </a:solidFill>
                <a:latin typeface="Georgia"/>
              </a:rPr>
              <a:t>This AI-driven copilot system automates and enhances the Software Development Life Cycle (SDLC) by integrating intelligent agents and advanced retrieval-augmented generation (RAG) techniques. It assists teams across requirement analysis, design, coding, testing, and deployment phases through context-aware automation and knowledge synthesis.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latin typeface="Georgia"/>
              </a:rPr>
              <a:t>Designed and developed an AI-powered Copilot to automate and optimize the Software Development Life Cycle (SDLC) across requirement analysis, design, coding, testing, and deployment stages.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latin typeface="Georgia"/>
              </a:rPr>
              <a:t>Built a multi-agent architecture using LangChain and LangGraph, where specialized agents performed tasks such as requirement interpretation, code review, test-case generation, and release validation.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latin typeface="Georgia"/>
              </a:rPr>
              <a:t>Implemented an Advanced Retrieval-Augmented Generation (RAG) pipeline leveraging FAISS vector search, Maximum Marginal Relevance (MMR) reranking, and hybrid (semantic + keyword) retrieval for high-precision contextual insights.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latin typeface="Georgia"/>
              </a:rPr>
              <a:t>Integrated tool-calling and workflow orchestration capabilities enabling agents to interact with JIRA, Git repositories, and CI/CD pipelines, providing real-time development assistance and governance.</a:t>
            </a:r>
          </a:p>
          <a:p>
            <a:pPr lvl="0" algn="just">
              <a:defRPr/>
            </a:pPr>
            <a:r>
              <a:rPr lang="en-US" sz="900" b="1" dirty="0">
                <a:solidFill>
                  <a:srgbClr val="A32020"/>
                </a:solidFill>
                <a:latin typeface="Georgia"/>
              </a:rPr>
              <a:t>LLM-Enhanced Document Parsing System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Georgia"/>
              </a:rPr>
              <a:t>Developed an Intelligent Document Processing (IDP) pipeline with LLMs (GPT-4o, Gemini Vision Pro) to automate extraction, classification, and summarization of unstructured DOCX, PDFs, and scanned forms.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Georgia"/>
              </a:rPr>
              <a:t>Built a modular parser using python-docx, Unstructured.io, and Whisper to handle text, tables, images, and multimodal transcription.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Georgia"/>
              </a:rPr>
              <a:t>Applied visual + textual content understanding via Gemini Vision Pro for complex tables and diagrams.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Georgia"/>
              </a:rPr>
              <a:t>Stored parsed data in AWS OpenSearch to enable semantic search and RAG-based contextual responses.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Georgia"/>
              </a:rPr>
              <a:t>Optimized for enterprise-scale document workflows, experimenting with OCR+LLM hybrids (Cradl AI, Whisper LLM) for robust performance.</a:t>
            </a:r>
          </a:p>
        </p:txBody>
      </p:sp>
      <p:grpSp>
        <p:nvGrpSpPr>
          <p:cNvPr id="6" name="Group 11"/>
          <p:cNvGrpSpPr/>
          <p:nvPr/>
        </p:nvGrpSpPr>
        <p:grpSpPr>
          <a:xfrm>
            <a:off x="178422" y="371028"/>
            <a:ext cx="11666248" cy="285153"/>
            <a:chOff x="323528" y="476672"/>
            <a:chExt cx="8352928" cy="144016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23528" y="476672"/>
              <a:ext cx="8352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23528" y="476672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10123512" y="740707"/>
            <a:ext cx="1719507" cy="4520112"/>
            <a:chOff x="7270123" y="1356911"/>
            <a:chExt cx="1719507" cy="3909962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7270123" y="1356911"/>
              <a:ext cx="1719507" cy="1066104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lIns="57970" tIns="57970" rIns="57970" bIns="57970" anchor="t"/>
            <a:lstStyle/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Education Qualifications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106680" lvl="0" indent="-106680" defTabSz="691483">
                <a:spcBef>
                  <a:spcPct val="5000"/>
                </a:spcBef>
                <a:spcAft>
                  <a:spcPct val="5000"/>
                </a:spcAft>
                <a:buFont typeface="Webdings" pitchFamily="18" charset="2"/>
                <a:buChar char="&lt;"/>
                <a:defRPr/>
              </a:pPr>
              <a:r>
                <a:rPr lang="en-US" sz="800" dirty="0">
                  <a:solidFill>
                    <a:srgbClr val="FFFFFF"/>
                  </a:solidFill>
                  <a:latin typeface="Georgia"/>
                </a:rPr>
                <a:t>B.Tech – Computer Science</a:t>
              </a:r>
            </a:p>
            <a:p>
              <a:pPr lvl="0" defTabSz="691483">
                <a:spcBef>
                  <a:spcPct val="5000"/>
                </a:spcBef>
                <a:spcAft>
                  <a:spcPct val="5000"/>
                </a:spcAft>
                <a:defRPr/>
              </a:pPr>
              <a:endParaRPr lang="en-US" sz="800" dirty="0">
                <a:solidFill>
                  <a:srgbClr val="FFFFFF"/>
                </a:solidFill>
                <a:latin typeface="Georgia"/>
              </a:endParaRPr>
            </a:p>
            <a:p>
              <a:pPr marL="106680" lvl="0" indent="-106680" defTabSz="691483">
                <a:spcBef>
                  <a:spcPct val="5000"/>
                </a:spcBef>
                <a:spcAft>
                  <a:spcPct val="5000"/>
                </a:spcAft>
                <a:buFont typeface="Webdings" pitchFamily="18" charset="2"/>
                <a:buChar char="&lt;"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Certifications:</a:t>
              </a:r>
            </a:p>
            <a:p>
              <a:pPr marL="106680" lvl="0" indent="-106680" defTabSz="691483">
                <a:spcBef>
                  <a:spcPct val="5000"/>
                </a:spcBef>
                <a:spcAft>
                  <a:spcPct val="5000"/>
                </a:spcAft>
                <a:buFont typeface="Webdings" pitchFamily="18" charset="2"/>
                <a:buChar char="&lt;"/>
                <a:defRPr/>
              </a:pPr>
              <a:r>
                <a:rPr lang="it-IT" sz="800" dirty="0">
                  <a:solidFill>
                    <a:srgbClr val="FFFFFF"/>
                  </a:solidFill>
                  <a:latin typeface="Georgia"/>
                </a:rPr>
                <a:t>Microsoft AI Fundamentals (AI -900)</a:t>
              </a:r>
            </a:p>
            <a:p>
              <a:pPr marL="106680" lvl="0" indent="-106680" defTabSz="691483">
                <a:spcBef>
                  <a:spcPct val="5000"/>
                </a:spcBef>
                <a:spcAft>
                  <a:spcPct val="5000"/>
                </a:spcAft>
                <a:buFont typeface="Webdings" pitchFamily="18" charset="2"/>
                <a:buChar char="&lt;"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Multiagent AI sys</a:t>
              </a:r>
              <a:r>
                <a:rPr lang="en-US" sz="800" dirty="0" err="1">
                  <a:solidFill>
                    <a:srgbClr val="FFFFFF"/>
                  </a:solidFill>
                  <a:latin typeface="Georgia"/>
                </a:rPr>
                <a:t>tem</a:t>
              </a:r>
              <a:r>
                <a:rPr lang="en-US" sz="800" dirty="0">
                  <a:solidFill>
                    <a:srgbClr val="FFFFFF"/>
                  </a:solidFill>
                  <a:latin typeface="Georgia"/>
                </a:rPr>
                <a:t> with Lang graph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Build LLM </a:t>
              </a:r>
              <a:r>
                <a:rPr lang="en-US" sz="800" dirty="0">
                  <a:solidFill>
                    <a:srgbClr val="FFFFFF"/>
                  </a:solidFill>
                  <a:latin typeface="Georgia"/>
                </a:rPr>
                <a:t>apps using OpenAI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80000"/>
                <a:buFontTx/>
                <a:buNone/>
                <a:tabLst>
                  <a:tab pos="964245" algn="l"/>
                  <a:tab pos="1280436" algn="l"/>
                  <a:tab pos="1525415" algn="l"/>
                </a:tabLst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7286905" y="2491696"/>
              <a:ext cx="1683223" cy="1066104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lIns="57970" tIns="57970" rIns="57970" bIns="57970" anchor="t"/>
            <a:lstStyle/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Relevant Expertise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Vector Database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RAG </a:t>
              </a: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and MM RAG Architecture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Hugging Face Models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Lang chain, Llama index, Haystack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FastAPI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AI Agents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7288208" y="3598389"/>
              <a:ext cx="1701422" cy="1017023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lIns="57970" tIns="57970" rIns="57970" bIns="57970" anchor="t"/>
            <a:lstStyle/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Technology Experience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Python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Generative AI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Agentic AI</a:t>
              </a: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Machine Learning</a:t>
              </a:r>
            </a:p>
            <a:p>
              <a:pPr marL="106680" indent="-106680" defTabSz="691483">
                <a:spcBef>
                  <a:spcPct val="5000"/>
                </a:spcBef>
                <a:spcAft>
                  <a:spcPct val="5000"/>
                </a:spcAft>
                <a:buFont typeface="Webdings" pitchFamily="18" charset="2"/>
                <a:buChar char="&lt;"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NLP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AWS Cloud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Georgia"/>
                <a:cs typeface="Georgia"/>
              </a:endParaRPr>
            </a:p>
            <a:p>
              <a:pPr marL="0" marR="0" lvl="0" indent="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7270123" y="4656001"/>
              <a:ext cx="1697389" cy="610872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lIns="57970" tIns="57970" rIns="57970" bIns="57970" anchor="t"/>
            <a:lstStyle/>
            <a:p>
              <a:pPr marL="0" marR="0" lvl="0" indent="0" algn="l" defTabSz="6914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MLOPS tool experience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R="0" lvl="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Git, Docker, GitHub Action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06680" marR="0" lvl="0" indent="-106680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r>
                <a:rPr lang="en-GB" sz="800" dirty="0">
                  <a:solidFill>
                    <a:srgbClr val="FFFFFF"/>
                  </a:solidFill>
                  <a:latin typeface="Georgia"/>
                </a:rPr>
                <a:t>Pytest</a:t>
              </a: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140335" marR="0" lvl="0" indent="-140335" algn="l" defTabSz="691483" rtl="0" eaLnBrk="1" fontAlgn="auto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5000"/>
                </a:spcAft>
                <a:buClrTx/>
                <a:buSzTx/>
                <a:buFont typeface="Webdings" pitchFamily="18" charset="2"/>
                <a:buChar char="&lt;"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67814"/>
              </p:ext>
            </p:extLst>
          </p:nvPr>
        </p:nvGraphicFramePr>
        <p:xfrm>
          <a:off x="171660" y="4554620"/>
          <a:ext cx="1570114" cy="101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471">
                <a:tc>
                  <a:txBody>
                    <a:bodyPr/>
                    <a:lstStyle/>
                    <a:p>
                      <a:pPr marL="0" marR="0" indent="0" algn="l" defTabSz="10430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900" b="1" dirty="0">
                          <a:solidFill>
                            <a:schemeClr val="tx2"/>
                          </a:solidFill>
                          <a:latin typeface="Georgia" pitchFamily="18" charset="0"/>
                        </a:rPr>
                        <a:t>Contact details</a:t>
                      </a:r>
                    </a:p>
                  </a:txBody>
                  <a:tcPr marL="43024" marR="43024" marT="28192" marB="2819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05">
                <a:tc>
                  <a:txBody>
                    <a:bodyPr/>
                    <a:lstStyle/>
                    <a:p>
                      <a:pPr fontAlgn="base"/>
                      <a:r>
                        <a:rPr lang="en-US" sz="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The Millenia, Tower D1 &amp;2 Murphy Road,</a:t>
                      </a:r>
                    </a:p>
                    <a:p>
                      <a:pPr fontAlgn="base"/>
                      <a:r>
                        <a:rPr lang="en-US" sz="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Ulsoor Karnataka - 560008 </a:t>
                      </a:r>
                    </a:p>
                  </a:txBody>
                  <a:tcPr marL="39113" marR="39113" marT="24875" marB="248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428">
                <a:tc>
                  <a:txBody>
                    <a:bodyPr/>
                    <a:lstStyle/>
                    <a:p>
                      <a:pPr marL="0" marR="0" indent="0" algn="l" defTabSz="101886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Mob</a:t>
                      </a:r>
                      <a:r>
                        <a:rPr lang="en-GB" sz="800" kern="120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: +91 8770203258</a:t>
                      </a:r>
                    </a:p>
                  </a:txBody>
                  <a:tcPr marL="39113" marR="39113" marT="24875" marB="248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428">
                <a:tc>
                  <a:txBody>
                    <a:bodyPr/>
                    <a:lstStyle/>
                    <a:p>
                      <a:pPr marL="0" marR="0" indent="0" algn="l" defTabSz="101886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E-mail</a:t>
                      </a:r>
                      <a:r>
                        <a:rPr lang="en-GB" sz="800" kern="120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: sunny.savita@pwc.com</a:t>
                      </a:r>
                    </a:p>
                  </a:txBody>
                  <a:tcPr marL="39113" marR="39113" marT="24875" marB="248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792267"/>
              </p:ext>
            </p:extLst>
          </p:nvPr>
        </p:nvGraphicFramePr>
        <p:xfrm>
          <a:off x="178422" y="3527164"/>
          <a:ext cx="1570114" cy="692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471">
                <a:tc>
                  <a:txBody>
                    <a:bodyPr/>
                    <a:lstStyle/>
                    <a:p>
                      <a:pPr marL="0" marR="0" indent="0" algn="l" defTabSz="10430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900" b="1">
                          <a:solidFill>
                            <a:schemeClr val="tx2"/>
                          </a:solidFill>
                          <a:latin typeface="Georgia" pitchFamily="18" charset="0"/>
                        </a:rPr>
                        <a:t>Prior Experience</a:t>
                      </a:r>
                      <a:endParaRPr lang="en-GB" sz="900" b="1" dirty="0">
                        <a:solidFill>
                          <a:schemeClr val="tx2"/>
                        </a:solidFill>
                        <a:latin typeface="Georgia" pitchFamily="18" charset="0"/>
                      </a:endParaRPr>
                    </a:p>
                  </a:txBody>
                  <a:tcPr marL="43024" marR="43024" marT="28192" marB="2819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140">
                <a:tc>
                  <a:txBody>
                    <a:bodyPr/>
                    <a:lstStyle/>
                    <a:p>
                      <a:pPr marL="171450" indent="-171450" algn="l" defTabSz="101886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q"/>
                        <a:tabLst/>
                      </a:pPr>
                      <a:r>
                        <a:rPr lang="en-US" sz="900" b="0" i="0" kern="1200" baseline="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Generative AI Engineer, PwC India</a:t>
                      </a:r>
                    </a:p>
                    <a:p>
                      <a:pPr marL="171450" indent="-171450" algn="l" defTabSz="101886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q"/>
                        <a:tabLst/>
                      </a:pPr>
                      <a:r>
                        <a:rPr lang="en-US" sz="900" b="0" i="0" kern="1200" baseline="0" dirty="0">
                          <a:solidFill>
                            <a:schemeClr val="dk1"/>
                          </a:solidFill>
                          <a:latin typeface="Georgia"/>
                          <a:ea typeface="+mn-ea"/>
                          <a:cs typeface="+mn-cs"/>
                        </a:rPr>
                        <a:t>Data Scientist, iNeuron.ai</a:t>
                      </a:r>
                    </a:p>
                  </a:txBody>
                  <a:tcPr marL="39113" marR="39113" marT="24875" marB="248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27AABC5A-1B6D-41A0-93F0-9D034E28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6127" y="5314592"/>
            <a:ext cx="1697389" cy="1439891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</p:spPr>
        <p:txBody>
          <a:bodyPr lIns="57970" tIns="57970" rIns="57970" bIns="57970" anchor="t"/>
          <a:lstStyle/>
          <a:p>
            <a:pPr marL="0" marR="0" lvl="0" indent="0" algn="l" defTabSz="6914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Cloud experience</a:t>
            </a:r>
          </a:p>
          <a:p>
            <a:pPr marL="0" marR="0" lvl="0" indent="0" algn="l" defTabSz="6914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Azure CloudFormation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AWS ECS, Fargate</a:t>
            </a: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lang="en-GB" sz="800" dirty="0">
                <a:solidFill>
                  <a:srgbClr val="FFFFFF"/>
                </a:solidFill>
                <a:latin typeface="Georgia"/>
              </a:rPr>
              <a:t>AWS Lambda</a:t>
            </a: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AWS SageMaker</a:t>
            </a:r>
            <a:endParaRPr lang="en-GB" sz="800" dirty="0">
              <a:solidFill>
                <a:srgbClr val="FFFFFF"/>
              </a:solidFill>
              <a:latin typeface="Georgia"/>
            </a:endParaRP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Amazon  EC2, S3</a:t>
            </a: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lang="en-GB" sz="800" dirty="0">
                <a:solidFill>
                  <a:srgbClr val="FFFFFF"/>
                </a:solidFill>
                <a:latin typeface="Georgia"/>
              </a:rPr>
              <a:t>AWS Bedrock</a:t>
            </a: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AWS OpenSearch</a:t>
            </a: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lang="en-GB" sz="800" dirty="0">
                <a:solidFill>
                  <a:srgbClr val="FFFFFF"/>
                </a:solidFill>
                <a:latin typeface="Georgia"/>
              </a:rPr>
              <a:t>AWS Glue, Redshift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6680" marR="0" lvl="0" indent="-106680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40335" marR="0" lvl="0" indent="-140335" algn="l" defTabSz="691483" rtl="0" eaLnBrk="1" fontAlgn="auto" latinLnBrk="0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32A815-125F-AC57-9382-E90967115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84" y="1242545"/>
            <a:ext cx="1417786" cy="1819226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6001779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heme/theme1.xml><?xml version="1.0" encoding="utf-8"?>
<a:theme xmlns:a="http://schemas.openxmlformats.org/drawingml/2006/main" name="PwC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E27588"/>
      </a:accent4>
      <a:accent5>
        <a:srgbClr val="DC6900"/>
      </a:accent5>
      <a:accent6>
        <a:srgbClr val="FFB600"/>
      </a:accent6>
      <a:hlink>
        <a:srgbClr val="0000FF"/>
      </a:hlink>
      <a:folHlink>
        <a:srgbClr val="0000FF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/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DcR_SlideID>e53f49df-c6c9-4caa-8e24-dedacaf8ae56</DcR_SlideID>
</file>

<file path=customXml/item2.xml><?xml version="1.0" encoding="utf-8"?>
<DcR_SlideID>9a1bbba3-d8f8-4093-884f-a70999d0a249</DcR_SlideID>
</file>

<file path=customXml/item3.xml><?xml version="1.0" encoding="utf-8"?>
<DcR_SlideID>b7bd5b41-5b09-4804-9bc3-a171703912b9</DcR_SlideID>
</file>

<file path=customXml/itemProps1.xml><?xml version="1.0" encoding="utf-8"?>
<ds:datastoreItem xmlns:ds="http://schemas.openxmlformats.org/officeDocument/2006/customXml" ds:itemID="{82823B7B-D968-42E4-B470-ADAF3A4D934E}">
  <ds:schemaRefs/>
</ds:datastoreItem>
</file>

<file path=customXml/itemProps2.xml><?xml version="1.0" encoding="utf-8"?>
<ds:datastoreItem xmlns:ds="http://schemas.openxmlformats.org/officeDocument/2006/customXml" ds:itemID="{8140651C-50B9-46BA-A206-41FE384AB91E}">
  <ds:schemaRefs/>
</ds:datastoreItem>
</file>

<file path=customXml/itemProps3.xml><?xml version="1.0" encoding="utf-8"?>
<ds:datastoreItem xmlns:ds="http://schemas.openxmlformats.org/officeDocument/2006/customXml" ds:itemID="{DEF947D4-2454-47EB-8486-39833820C7B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737</Words>
  <Application>Microsoft Office PowerPoint</Application>
  <PresentationFormat>Widescreen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Georgia</vt:lpstr>
      <vt:lpstr>Webdings</vt:lpstr>
      <vt:lpstr>Wingdings</vt:lpstr>
      <vt:lpstr>PwC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Varush Harikumaran (IN)</dc:creator>
  <cp:lastModifiedBy>sunny savita</cp:lastModifiedBy>
  <cp:revision>11</cp:revision>
  <dcterms:created xsi:type="dcterms:W3CDTF">2024-03-22T05:14:39Z</dcterms:created>
  <dcterms:modified xsi:type="dcterms:W3CDTF">2025-10-12T12:59:47Z</dcterms:modified>
</cp:coreProperties>
</file>